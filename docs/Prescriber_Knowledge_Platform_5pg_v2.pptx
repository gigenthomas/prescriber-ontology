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93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genthomas/prescriber-ontolog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gigenthomas/prescriber-ontology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3545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· 2026 ·POC</a:t>
            </a:r>
          </a:p>
        </p:txBody>
      </p:sp>
      <p:sp>
        <p:nvSpPr>
          <p:cNvPr id="4" name="Text 2"/>
          <p:cNvSpPr/>
          <p:nvPr/>
        </p:nvSpPr>
        <p:spPr>
          <a:xfrm>
            <a:off x="768818" y="1539452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using Prescriber Data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20691" y="2742901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assistant for Medicare Part D prescribing data 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sematic data layer for the agent ecosystem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open-source prescriber data published by the Centers for Medicare &amp; Medicaid Services (CMS)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4817441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114,815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9450" y="5320361"/>
            <a:ext cx="13246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4817441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12808" y="5320361"/>
            <a:ext cx="1457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4817441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× 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5320361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× dimensions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4817441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052560" y="5320361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656043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end-to-end on real public data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6074747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3200" b="1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github.com/gigenthomas/prescriber-ontology</a:t>
            </a:r>
            <a:endParaRPr lang="en-US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E390CD-8495-D1CE-D935-97501F6A0724}"/>
              </a:ext>
            </a:extLst>
          </p:cNvPr>
          <p:cNvSpPr txBox="1"/>
          <p:nvPr/>
        </p:nvSpPr>
        <p:spPr>
          <a:xfrm>
            <a:off x="3383280" y="925257"/>
            <a:ext cx="396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Concept to code &gt;&gt; Shipped in a day  !!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78EF22-6AF2-7862-5BF6-C30E8BCE6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098" y="5256793"/>
            <a:ext cx="2016312" cy="13467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prescribing behavior. Get audited, sourced answers — across data that is both typed and networked.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4206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questions, real answers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651760"/>
            <a:ext cx="4937760" cy="86868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specialties generate the most drug spend in California?”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657600"/>
            <a:ext cx="4937760" cy="86868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3703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prescribes the most Eliquis, and where do they practice?”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663440"/>
            <a:ext cx="4937760" cy="86868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4709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Cardiology prescribe most often?”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182880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92240" y="2034540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1442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17804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unusual prescribing patterns by specialty or geography.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09360" y="2907792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92240" y="3113532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22326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78040" y="3044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178040" y="33649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prescribers for a given drug or therapy class.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309360" y="3986784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492240" y="4192524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30225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78040" y="41239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178040" y="44439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specialties or geographies by drug spend.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309360" y="5065776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92240" y="5271516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538124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5202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178040" y="55229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prescribers with similar co-prescribing profiles.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 Knowledge Platform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 application loop, a Claude model picking from named tools, and two databases playing different roles.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337560" y="1783080"/>
            <a:ext cx="5486400" cy="4572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3756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UI (HTMX, single page)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2514600"/>
            <a:ext cx="73152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06040" y="2606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application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2971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requests · maintains per-session conversation · runs the LLM agent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240280"/>
            <a:ext cx="0" cy="274320"/>
          </a:xfrm>
          <a:prstGeom prst="line">
            <a:avLst/>
          </a:prstGeom>
          <a:noFill/>
          <a:ln w="19050">
            <a:solidFill>
              <a:srgbClr val="5C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3520440" cy="1920240"/>
          </a:xfrm>
          <a:prstGeom prst="rect">
            <a:avLst/>
          </a:prstGeom>
          <a:solidFill>
            <a:srgbClr val="0A2A2F"/>
          </a:solidFill>
          <a:ln w="12700">
            <a:solidFill>
              <a:srgbClr val="0A2A2F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3520440" cy="73152"/>
          </a:xfrm>
          <a:prstGeom prst="rect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(Sonnet 4.6)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which tool to call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writes raw queries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schema on demand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0540" y="3703320"/>
            <a:ext cx="3520440" cy="192024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20540" y="3703320"/>
            <a:ext cx="35204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486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486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system of record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4860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 entities · 2.68M relations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every fact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 + vector 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2440" y="3703320"/>
            <a:ext cx="3520440" cy="192024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3703320"/>
            <a:ext cx="35204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QUERIES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graph projection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66760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entities as nodes &amp; edges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&amp; similarity queries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Rebuildable in ~5 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897880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3000" y="5806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boundary: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880360" y="5806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picks from 9 pre-built tools — no SQL injection vector, no runaway queries, every call vetted in advance.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 Knowledge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feature groups shipped end-to-end. Eight pillars below — each with what it enables.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data foundation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(typed canonical) + Neo4j (graph projection). One docker-compose. Provenance on every fact.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56432" y="1691640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85032" y="1920240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semantic layer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85032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metrics × 7 dimensions in YAML, compiled to Cypher on the fly. Compiled query returned with results.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64224" y="1691640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92824" y="1920240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029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92824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 (writes)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592824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Flag, unflag, watchlist, note. Type-checked, transactional, append-only audit. Per-action MCP tools auto-generated.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272016" y="1691640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500616" y="1920240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029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0616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500616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UUID per action — safe at-least-once retry. Replay returns the prior invocation, no double-apply.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7647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4005072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1480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Postgres → Neo4j sync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77240" y="5056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+ LISTEN/NOTIFY consumer. ~1 sec latency after any write. Kafka-shaped for future scale.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56432" y="377647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3685032" y="4005072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4760" y="411480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85032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+ lineage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685032" y="5056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logged with timing &amp; status. Every entity traceable to its pipeline run or action.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364224" y="377647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6592824" y="4005072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2552" y="4114800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92824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592824" y="5056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binary, two modes. The chatbot's full tool surface is reachable by Claude Desktop, Claude Code, internal agents.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272016" y="377647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9500616" y="4005072"/>
            <a:ext cx="548640" cy="54864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0344" y="4114800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500616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500616" y="5056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+ 1,536-dim OpenAI embeddings. search_entities exposes 'trigram' or 'semantic' mode — same tool, two engines.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0A2A2F"/>
          </a:solidFill>
          <a:ln w="12700">
            <a:solidFill>
              <a:srgbClr val="0A2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/>
          <p:nvPr/>
        </p:nvSpPr>
        <p:spPr>
          <a:xfrm>
            <a:off x="73152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shipped: 13/13 cross-store verification · actions audit UI · telemetry UI · lineage UI · ingest pipeline at 40k rows/sec · Anthropic prompt caching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 Knowledge Platform 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the primary consumer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a chatbot with a database behind it. We are building a data layer designed for AI agents — with one chatbot as the first reference consumer.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657600" cy="1078992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73152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718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834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83080" y="3200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ties back to public CMS records.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3895344"/>
            <a:ext cx="3657600" cy="1078992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" y="3895344"/>
            <a:ext cx="73152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69664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40325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83080" y="43982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for compliance and review.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" y="5093208"/>
            <a:ext cx="3657600" cy="1078992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5093208"/>
            <a:ext cx="73152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36752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5230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83080" y="5596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through approved tools only — no surprises, no shortcuts.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937760" y="2697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agents do ? 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937760" y="3154680"/>
            <a:ext cx="6675120" cy="6858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102352" y="327355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10235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71500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business questions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001000" y="31546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answer plain-English questions about prescribers, drugs, specialties, and spend — and show the work behind every answer.</a:t>
            </a:r>
            <a:endParaRPr lang="en-US" sz="1050" dirty="0">
              <a:solidFill>
                <a:srgbClr val="B8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937760" y="3913632"/>
            <a:ext cx="6675120" cy="6858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102352" y="403250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102352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715000" y="3913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vague descriptions</a:t>
            </a: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8001000" y="3913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turn casual phrasing like “the cardiologist in SF who prescribes statins” into the exact provider — no manual lookup, no guesswork.</a:t>
            </a:r>
            <a:endParaRPr lang="en-US" sz="1050" dirty="0">
              <a:solidFill>
                <a:srgbClr val="B8D4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4937760" y="4672584"/>
            <a:ext cx="6675120" cy="6858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5102352" y="4791456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5102352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715000" y="467258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findings</a:t>
            </a:r>
          </a:p>
        </p:txBody>
      </p:sp>
      <p:sp>
        <p:nvSpPr>
          <p:cNvPr id="36" name="Text 31"/>
          <p:cNvSpPr/>
          <p:nvPr/>
        </p:nvSpPr>
        <p:spPr>
          <a:xfrm>
            <a:off x="8001000" y="467258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050" dirty="0">
                <a:latin typeface="Arial" panose="020B0604020202020204" pitchFamily="34" charset="0"/>
              </a:rPr>
              <a:t>Agents can flag providers, build watchlists, and leave notes — every action is logged and safe to repeat.</a:t>
            </a:r>
          </a:p>
        </p:txBody>
      </p:sp>
      <p:sp>
        <p:nvSpPr>
          <p:cNvPr id="37" name="Shape 32"/>
          <p:cNvSpPr/>
          <p:nvPr/>
        </p:nvSpPr>
        <p:spPr>
          <a:xfrm>
            <a:off x="4937760" y="5431536"/>
            <a:ext cx="6675120" cy="6858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5102352" y="555040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5102352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5715000" y="54315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any answer</a:t>
            </a: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8001000" y="543153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105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provider or fact, agents can show where the data came from, who reviewed it, and what changed — an instant audit trail.</a:t>
            </a:r>
          </a:p>
        </p:txBody>
      </p:sp>
      <p:sp>
        <p:nvSpPr>
          <p:cNvPr id="42" name="Text 37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00" b="1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github.com/gigenthomas/prescriber-ontology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430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A2A2F"/>
                </a:solidFill>
                <a:latin typeface="Calibri"/>
              </a:rPr>
              <a:t>Agents on the semantic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7373"/>
                </a:solidFill>
                <a:latin typeface="Calibri"/>
              </a:rPr>
              <a:t>How autonomous agents drive the semantic layer — ask, act, and audit through one bounded tool surface.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0000"/>
            <a:ext cx="2669040" cy="78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40000"/>
            <a:ext cx="2669040" cy="73152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640" y="1790000"/>
            <a:ext cx="22290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0A202"/>
                </a:solidFill>
                <a:latin typeface="Calibri"/>
              </a:rPr>
              <a:t>CLAUDE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640" y="2060000"/>
            <a:ext cx="2229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D4D4"/>
                </a:solidFill>
                <a:latin typeface="Calibri"/>
              </a:rPr>
              <a:t>Operator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680" y="1640000"/>
            <a:ext cx="2669040" cy="78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77680" y="1640000"/>
            <a:ext cx="2669040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97680" y="1790000"/>
            <a:ext cx="22290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2C39A"/>
                </a:solidFill>
                <a:latin typeface="Calibri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680" y="2060000"/>
            <a:ext cx="2229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D4D4"/>
                </a:solidFill>
                <a:latin typeface="Calibri"/>
              </a:rPr>
              <a:t>Developer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6720" y="1640000"/>
            <a:ext cx="2669040" cy="78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6720" y="1640000"/>
            <a:ext cx="266904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6720" y="1790000"/>
            <a:ext cx="22290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Calibri"/>
              </a:rPr>
              <a:t>INTERNAL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720" y="2060000"/>
            <a:ext cx="2229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D4D4"/>
                </a:solidFill>
                <a:latin typeface="Calibri"/>
              </a:rPr>
              <a:t>Scheduled &amp; headless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5760" y="1640000"/>
            <a:ext cx="2669040" cy="78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35760" y="1640000"/>
            <a:ext cx="2669040" cy="73152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5760" y="1790000"/>
            <a:ext cx="22290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0A202"/>
                </a:solidFill>
                <a:latin typeface="Calibri"/>
              </a:rPr>
              <a:t>CHATBOT (HTMX UI)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5760" y="2060000"/>
            <a:ext cx="2229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D4D4"/>
                </a:solidFill>
                <a:latin typeface="Calibri"/>
              </a:rPr>
              <a:t>Reference consumer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20000"/>
            <a:ext cx="11156160" cy="660000"/>
          </a:xfrm>
          <a:prstGeom prst="rect">
            <a:avLst/>
          </a:prstGeom>
          <a:solidFill>
            <a:srgbClr val="0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2620000"/>
            <a:ext cx="11156160" cy="7315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640" y="2760000"/>
            <a:ext cx="105961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8090"/>
                </a:solidFill>
                <a:latin typeface="Calibri"/>
              </a:rPr>
              <a:t>9 NAMED TOOLS — same surface for chatbot and external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40" y="3000000"/>
            <a:ext cx="105961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query_metric   ·   search_entities   ·   entity_lineage   ·   graph_query   ·   describe_schema   ·   flag   ·   unflag   ·   watchlist   ·   note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83160" y="2420000"/>
            <a:ext cx="0" cy="140000"/>
          </a:xfrm>
          <a:prstGeom prst="line">
            <a:avLst/>
          </a:prstGeom>
          <a:ln w="1587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>
            <a:off x="1813160" y="2510000"/>
            <a:ext cx="140000" cy="110000"/>
          </a:xfrm>
          <a:prstGeom prst="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4712200" y="2420000"/>
            <a:ext cx="0" cy="140000"/>
          </a:xfrm>
          <a:prstGeom prst="line">
            <a:avLst/>
          </a:prstGeom>
          <a:ln w="1587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>
            <a:off x="4642200" y="2510000"/>
            <a:ext cx="140000" cy="110000"/>
          </a:xfrm>
          <a:prstGeom prst="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7541240" y="2420000"/>
            <a:ext cx="0" cy="140000"/>
          </a:xfrm>
          <a:prstGeom prst="line">
            <a:avLst/>
          </a:prstGeom>
          <a:ln w="1587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>
            <a:off x="7471240" y="2510000"/>
            <a:ext cx="140000" cy="110000"/>
          </a:xfrm>
          <a:prstGeom prst="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10370280" y="2420000"/>
            <a:ext cx="0" cy="140000"/>
          </a:xfrm>
          <a:prstGeom prst="line">
            <a:avLst/>
          </a:prstGeom>
          <a:ln w="1587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>
            <a:off x="10300280" y="2510000"/>
            <a:ext cx="140000" cy="110000"/>
          </a:xfrm>
          <a:prstGeom prst="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3480000"/>
            <a:ext cx="11156160" cy="114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3480000"/>
            <a:ext cx="11156160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8640" y="366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  <a:latin typeface="Calibri"/>
              </a:rPr>
              <a:t>YAML DEFINITIONS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40" y="3950000"/>
            <a:ext cx="46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13 metrics  ×  7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40" y="4280000"/>
            <a:ext cx="46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8D4D4"/>
                </a:solidFill>
                <a:latin typeface="Calibri"/>
              </a:rPr>
              <a:t>One file. Versioned. Reviewed like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8640" y="3660000"/>
            <a:ext cx="2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  <a:latin typeface="Calibri"/>
              </a:rPr>
              <a:t>COMPILES 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8640" y="3950000"/>
            <a:ext cx="24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SQL  +  Cypher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8640" y="428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8D4D4"/>
                </a:solidFill>
                <a:latin typeface="Calibri"/>
              </a:rPr>
              <a:t>No raw queries from the model.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8640" y="366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  <a:latin typeface="Calibri"/>
              </a:rPr>
              <a:t>RETURNS TO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8640" y="3950000"/>
            <a:ext cx="37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answer  +  query  +  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8640" y="4280000"/>
            <a:ext cx="3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8D4D4"/>
                </a:solidFill>
                <a:latin typeface="Calibri"/>
              </a:rPr>
              <a:t>Audited, sourced, replayable.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26720" y="3280000"/>
            <a:ext cx="0" cy="140000"/>
          </a:xfrm>
          <a:prstGeom prst="line">
            <a:avLst/>
          </a:prstGeom>
          <a:ln w="1587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>
            <a:off x="6056720" y="3370000"/>
            <a:ext cx="140000" cy="110000"/>
          </a:xfrm>
          <a:prstGeom prst="triangl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4820000"/>
            <a:ext cx="5438080" cy="78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4820000"/>
            <a:ext cx="5438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8640" y="4970000"/>
            <a:ext cx="48780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896"/>
                </a:solidFill>
                <a:latin typeface="Calibri"/>
              </a:rPr>
              <a:t>POSTGRES  ·  typed canonical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640" y="5250000"/>
            <a:ext cx="48780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D4D4"/>
                </a:solidFill>
                <a:latin typeface="Calibri"/>
              </a:rPr>
              <a:t>114k entities  ·  2.68M relations  ·  provenance + pgvector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6720" y="4820000"/>
            <a:ext cx="5438080" cy="78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6720" y="4820000"/>
            <a:ext cx="5438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46720" y="4970000"/>
            <a:ext cx="48780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896"/>
                </a:solidFill>
                <a:latin typeface="Calibri"/>
              </a:rPr>
              <a:t>NEO4J  ·  graph projection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6720" y="5250000"/>
            <a:ext cx="48780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8D4D4"/>
                </a:solidFill>
                <a:latin typeface="Calibri"/>
              </a:rPr>
              <a:t>multi-hop  ·  similarity queries  ·  ~1s outbox-synced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267680" y="4620000"/>
            <a:ext cx="0" cy="140000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>
            <a:off x="3197680" y="4710000"/>
            <a:ext cx="140000" cy="110000"/>
          </a:xfrm>
          <a:prstGeom prst="triangl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8985760" y="4620000"/>
            <a:ext cx="0" cy="140000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8915760" y="4710000"/>
            <a:ext cx="140000" cy="110000"/>
          </a:xfrm>
          <a:prstGeom prst="triangl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0000" y="5806440"/>
            <a:ext cx="2400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28090"/>
                </a:solidFill>
                <a:latin typeface="Calibri"/>
              </a:rPr>
              <a:t>Why this shape: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360" y="580644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A2E2E"/>
                </a:solidFill>
                <a:latin typeface="Calibri"/>
              </a:rPr>
              <a:t>Agents never touch SQL or Cypher. They compose tools — the semantic layer compiles, executes, and returns answers with the query and sources attached.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7373"/>
                </a:solidFill>
                <a:latin typeface="Calibri"/>
              </a:rPr>
              <a:t>Prescriber Knowledge Platform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C73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43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1680"/>
            <a:ext cx="11430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2A2F"/>
                </a:solidFill>
                <a:latin typeface="Calibri"/>
              </a:rPr>
              <a:t>Maps to Palantir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176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C7373"/>
                </a:solidFill>
                <a:latin typeface="Calibri"/>
              </a:rPr>
              <a:t>Same architectural pattern as Palantir Foundry + AIP — translated to open data and a self-hosted footprint.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00000"/>
            <a:ext cx="11104560" cy="420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640" y="2000000"/>
            <a:ext cx="218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8640" y="2000000"/>
            <a:ext cx="413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PALANTIR  ·  FOUNDRY + AIP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640" y="2000000"/>
            <a:ext cx="41345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THIS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80000"/>
            <a:ext cx="11104560" cy="49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8640" y="2480000"/>
            <a:ext cx="2140000" cy="4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202"/>
                </a:solidFill>
                <a:latin typeface="Calibri"/>
              </a:rPr>
              <a:t>Semantic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8640" y="2540000"/>
            <a:ext cx="393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Ontology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8640" y="2790000"/>
            <a:ext cx="393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objects · links · properties + kinetic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8640" y="2480000"/>
            <a:ext cx="40000" cy="490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8640" y="2540000"/>
            <a:ext cx="393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Semantic layer (YAML)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8640" y="2790000"/>
            <a:ext cx="393456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13 metrics × 7 dimensions · 114k entities · 2.68M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30000"/>
            <a:ext cx="11104560" cy="490000"/>
          </a:xfrm>
          <a:prstGeom prst="rect">
            <a:avLst/>
          </a:prstGeom>
          <a:solidFill>
            <a:srgbClr val="0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8640" y="3030000"/>
            <a:ext cx="2140000" cy="4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202"/>
                </a:solidFill>
                <a:latin typeface="Calibri"/>
              </a:rPr>
              <a:t>Data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8640" y="3090000"/>
            <a:ext cx="393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Foundry data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8640" y="3340000"/>
            <a:ext cx="393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object store + graph backing, governed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8640" y="3030000"/>
            <a:ext cx="40000" cy="490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8640" y="3090000"/>
            <a:ext cx="393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Postgres + Neo4j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640" y="3340000"/>
            <a:ext cx="393456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typed canonical + graph projection, ~1s synced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0000"/>
            <a:ext cx="11104560" cy="49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640" y="3580000"/>
            <a:ext cx="2140000" cy="4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202"/>
                </a:solidFill>
                <a:latin typeface="Calibri"/>
              </a:rPr>
              <a:t>Writes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8640" y="3640000"/>
            <a:ext cx="393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8640" y="3890000"/>
            <a:ext cx="393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typed, transactional, audited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8640" y="3580000"/>
            <a:ext cx="40000" cy="490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18640" y="3640000"/>
            <a:ext cx="393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8640" y="3890000"/>
            <a:ext cx="393456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flag · watchlist · note · append-only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30000"/>
            <a:ext cx="11104560" cy="490000"/>
          </a:xfrm>
          <a:prstGeom prst="rect">
            <a:avLst/>
          </a:prstGeom>
          <a:solidFill>
            <a:srgbClr val="0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640" y="4130000"/>
            <a:ext cx="2140000" cy="4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202"/>
                </a:solidFill>
                <a:latin typeface="Calibri"/>
              </a:rPr>
              <a:t>AI /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8640" y="4190000"/>
            <a:ext cx="393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AIP Logic + AIP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8640" y="4440000"/>
            <a:ext cx="393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LLM orchestration, agent lifecycle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8640" y="4130000"/>
            <a:ext cx="40000" cy="490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18640" y="4190000"/>
            <a:ext cx="393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+ MCP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8640" y="4440000"/>
            <a:ext cx="393456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9 named tools, no raw queries from the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80000"/>
            <a:ext cx="11104560" cy="490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8640" y="4680000"/>
            <a:ext cx="2140000" cy="4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202"/>
                </a:solidFill>
                <a:latin typeface="Calibri"/>
              </a:rPr>
              <a:t>Lineage +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8640" y="4740000"/>
            <a:ext cx="393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Workflow Lineage, audit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68640" y="4990000"/>
            <a:ext cx="393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every change traceable, replayable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8640" y="4680000"/>
            <a:ext cx="40000" cy="490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18640" y="4740000"/>
            <a:ext cx="393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entity_lineage + telemetry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8640" y="4990000"/>
            <a:ext cx="393456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provenance on every fact, every tool call logged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230000"/>
            <a:ext cx="11104560" cy="490000"/>
          </a:xfrm>
          <a:prstGeom prst="rect">
            <a:avLst/>
          </a:prstGeom>
          <a:solidFill>
            <a:srgbClr val="0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8640" y="5230000"/>
            <a:ext cx="2140000" cy="4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202"/>
                </a:solidFill>
                <a:latin typeface="Calibri"/>
              </a:rPr>
              <a:t>Consumer surfaces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68640" y="5290000"/>
            <a:ext cx="393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Workshop, AIP Chatbot Studio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8640" y="5540000"/>
            <a:ext cx="393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low-code apps + assistants on the ontology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8640" y="5230000"/>
            <a:ext cx="40000" cy="490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18640" y="5290000"/>
            <a:ext cx="393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HTMX chatbot + MCP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18640" y="5540000"/>
            <a:ext cx="393456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8D4D4"/>
                </a:solidFill>
                <a:latin typeface="Calibri"/>
              </a:rPr>
              <a:t>any agent (Claude Desktop, Code, internal) can connect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000" y="5806440"/>
            <a:ext cx="2400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If you know Palantir: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0360" y="580644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2E2E"/>
                </a:solidFill>
                <a:latin typeface="Calibri"/>
              </a:rPr>
              <a:t>you already know this shape. Same separation of ontology, actions, and agents — running on public data, self-hosted, in a single docker-compose.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7373"/>
                </a:solidFill>
                <a:latin typeface="Calibri"/>
              </a:rPr>
              <a:t>Prescriber Knowledge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73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1183</Words>
  <Application>Microsoft Office PowerPoint</Application>
  <PresentationFormat>Widescreen</PresentationFormat>
  <Paragraphs>175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Prescriber Knowledge Platform — Executive Brief (5-page)</dc:title>
  <dc:subject>PptxGenJS Presentation</dc:subject>
  <dc:creator>Prescriber Knowledge Platform</dc:creator>
  <cp:lastModifiedBy>Gigen Thomas</cp:lastModifiedBy>
  <cp:revision>8</cp:revision>
  <dcterms:created xsi:type="dcterms:W3CDTF">2026-05-17T06:28:55Z</dcterms:created>
  <dcterms:modified xsi:type="dcterms:W3CDTF">2026-05-17T17:11:48Z</dcterms:modified>
</cp:coreProperties>
</file>