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96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1934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igenthomas/prescriber-ontology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10.png"/><Relationship Id="rId10" Type="http://schemas.openxmlformats.org/officeDocument/2006/relationships/image" Target="../media/image4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gigenthomas/prescriber-ontology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93545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· 2026 ·POC</a:t>
            </a:r>
          </a:p>
        </p:txBody>
      </p:sp>
      <p:sp>
        <p:nvSpPr>
          <p:cNvPr id="4" name="Text 2"/>
          <p:cNvSpPr/>
          <p:nvPr/>
        </p:nvSpPr>
        <p:spPr>
          <a:xfrm>
            <a:off x="768818" y="1539452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using Prescriber Data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720691" y="2742901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natural-language assistant for Medicare Part D prescribing data </a:t>
            </a:r>
            <a:endParaRPr lang="en-US" sz="22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as a sematic data layer for the agent ecosystem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Leverages open-source prescriber data published by the Centers for Medicare &amp; Medicaid Services (CMS)</a:t>
            </a:r>
          </a:p>
        </p:txBody>
      </p:sp>
      <p:sp>
        <p:nvSpPr>
          <p:cNvPr id="6" name="Text 4"/>
          <p:cNvSpPr/>
          <p:nvPr/>
        </p:nvSpPr>
        <p:spPr>
          <a:xfrm>
            <a:off x="8229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114,815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009450" y="5320361"/>
            <a:ext cx="132467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661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2.68M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812808" y="5320361"/>
            <a:ext cx="145702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093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× 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6309360" y="5320361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 × dimensions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4817441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052560" y="5320361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tools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5656043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· end-to-end on real public data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22960" y="6074747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3200" b="1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github.com/gigenthomas/prescriber-ontology</a:t>
            </a:r>
            <a:endParaRPr lang="en-US" sz="3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2E390CD-8495-D1CE-D935-97501F6A0724}"/>
              </a:ext>
            </a:extLst>
          </p:cNvPr>
          <p:cNvSpPr txBox="1"/>
          <p:nvPr/>
        </p:nvSpPr>
        <p:spPr>
          <a:xfrm>
            <a:off x="3383280" y="925257"/>
            <a:ext cx="39614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Concept to code &gt;&gt; Shipped in a day  !! 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878EF22-6AF2-7862-5BF6-C30E8BCE6A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3098" y="5256793"/>
            <a:ext cx="2016312" cy="134677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built 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plain-English questions about prescribing behavior. Get audited, sourced answers — across data that is both typed and networked.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73152" cy="4206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5740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202996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questions, real answers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68680" y="265176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05840" y="26974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specialties generate the most drug spend in California?”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868680" y="365760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005840" y="3703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“Who prescribes the most Eliquis, and where do they practice?”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68680" y="4663440"/>
            <a:ext cx="4937760" cy="86868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005840" y="47091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does Cardiology prescribe most often?”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309360" y="1828800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492240" y="20345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1968" y="2144268"/>
            <a:ext cx="329184" cy="32918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178040" y="1965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7178040" y="228600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unusual prescribing patterns by specialty or geography.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6309360" y="2907792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6"/>
          <p:cNvSpPr/>
          <p:nvPr/>
        </p:nvSpPr>
        <p:spPr>
          <a:xfrm>
            <a:off x="6492240" y="311353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1968" y="3223260"/>
            <a:ext cx="329184" cy="32918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178040" y="30449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7178040" y="3364992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prescribers for a given drug or therapy class.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309360" y="3986784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0"/>
          <p:cNvSpPr/>
          <p:nvPr/>
        </p:nvSpPr>
        <p:spPr>
          <a:xfrm>
            <a:off x="6492240" y="4192524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1968" y="4302252"/>
            <a:ext cx="329184" cy="32918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178040" y="41239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analysis</a:t>
            </a:r>
            <a:endParaRPr lang="en-US" sz="1400" dirty="0"/>
          </a:p>
        </p:txBody>
      </p:sp>
      <p:sp>
        <p:nvSpPr>
          <p:cNvPr id="28" name="Text 22"/>
          <p:cNvSpPr/>
          <p:nvPr/>
        </p:nvSpPr>
        <p:spPr>
          <a:xfrm>
            <a:off x="7178040" y="4443984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specialties or geographies by drug spend.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6309360" y="5065776"/>
            <a:ext cx="566928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4"/>
          <p:cNvSpPr/>
          <p:nvPr/>
        </p:nvSpPr>
        <p:spPr>
          <a:xfrm>
            <a:off x="6492240" y="5271516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1968" y="5381244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7178040" y="5202936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analysis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7178040" y="55229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prescribers with similar co-prescribing profiles.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900" dirty="0"/>
          </a:p>
        </p:txBody>
      </p:sp>
      <p:sp>
        <p:nvSpPr>
          <p:cNvPr id="36" name="Text 29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application loop, a Claude model picking from named tools, and two databases playing different roles.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337560" y="1783080"/>
            <a:ext cx="5486400" cy="4572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337560" y="17830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chat UI (HTMX, single page)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423160" y="2514600"/>
            <a:ext cx="7315200" cy="9601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06040" y="2606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application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606040" y="29718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requests · maintains per-session conversation · runs the LLM agent loop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80760" y="2240280"/>
            <a:ext cx="0" cy="274320"/>
          </a:xfrm>
          <a:prstGeom prst="line">
            <a:avLst/>
          </a:prstGeom>
          <a:noFill/>
          <a:ln w="19050">
            <a:solidFill>
              <a:srgbClr val="5C73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3520440" cy="1920240"/>
          </a:xfrm>
          <a:prstGeom prst="rect">
            <a:avLst/>
          </a:prstGeom>
          <a:solidFill>
            <a:srgbClr val="0A2A2F"/>
          </a:solidFill>
          <a:ln w="12700">
            <a:solidFill>
              <a:srgbClr val="0A2A2F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3520440" cy="73152"/>
          </a:xfrm>
          <a:prstGeom prst="rect">
            <a:avLst/>
          </a:prstGeom>
          <a:solidFill>
            <a:srgbClr val="F0A202"/>
          </a:solidFill>
          <a:ln w="12700">
            <a:solidFill>
              <a:srgbClr val="F0A20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F0A20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REASONING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Claude (Sonnet 4.6)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which tool to call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writes raw queries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Self-describing schema on demand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20540" y="3703320"/>
            <a:ext cx="3520440" cy="192024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320540" y="3703320"/>
            <a:ext cx="352044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948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DATA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948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system of record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5948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114k entities · 2.68M relations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on every fact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Trigram + vector search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092440" y="3703320"/>
            <a:ext cx="3520440" cy="192024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8092440" y="3703320"/>
            <a:ext cx="3520440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8366760" y="38862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QUERIES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366760" y="416052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graph projection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366760" y="46634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entities as nodes &amp; edges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&amp; similarity queries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■"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Rebuildable in ~5 min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5897880"/>
            <a:ext cx="320040" cy="320040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143000" y="5806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boundary: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LLM picks from 9 pre-built tools — no SQL injection vector, no runaway queries, every call vetted in advance.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feature groups shipped end-to-end. Eight pillars below — each with what it enables.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77240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data foundation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(typed canonical) + Neo4j (graph projection). One docker-compose. Provenance on every fact.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456432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85032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2029968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85032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semantic layer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685032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metrics × 7 dimensions in YAML, compiled to Cypher on the fly. Compiled query returned with results.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364224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592824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02552" y="2029968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592824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layer (writes)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6592824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Flag, unflag, watchlist, note. Type-checked, transactional, append-only audit. Per-action MCP tools auto-generated.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9272016" y="1691640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500616" y="1920240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0344" y="2029968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00616" y="253288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keys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9500616" y="297180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UUID per action — safe at-least-once retry. Replay returns the prior invocation, no double-apply.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548640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77240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6968" y="4114800"/>
            <a:ext cx="329184" cy="32918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77240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Postgres → Neo4j sync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777240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+ LISTEN/NOTIFY consumer. ~1 sec latency after any write. Kafka-shaped for future scale.</a:t>
            </a:r>
            <a:endParaRPr lang="en-US" sz="950" dirty="0"/>
          </a:p>
        </p:txBody>
      </p:sp>
      <p:sp>
        <p:nvSpPr>
          <p:cNvPr id="29" name="Shape 22"/>
          <p:cNvSpPr/>
          <p:nvPr/>
        </p:nvSpPr>
        <p:spPr>
          <a:xfrm>
            <a:off x="3456432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3685032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4760" y="4114800"/>
            <a:ext cx="329184" cy="32918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685032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+ lineage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685032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tool call logged with timing &amp; status. Every entity traceable to its pipeline run or action.</a:t>
            </a:r>
            <a:endParaRPr lang="en-US" sz="950" dirty="0"/>
          </a:p>
        </p:txBody>
      </p:sp>
      <p:sp>
        <p:nvSpPr>
          <p:cNvPr id="34" name="Shape 26"/>
          <p:cNvSpPr/>
          <p:nvPr/>
        </p:nvSpPr>
        <p:spPr>
          <a:xfrm>
            <a:off x="6364224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7"/>
          <p:cNvSpPr/>
          <p:nvPr/>
        </p:nvSpPr>
        <p:spPr>
          <a:xfrm>
            <a:off x="6592824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02552" y="4114800"/>
            <a:ext cx="329184" cy="329184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592824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250" dirty="0"/>
          </a:p>
        </p:txBody>
      </p:sp>
      <p:sp>
        <p:nvSpPr>
          <p:cNvPr id="38" name="Text 29"/>
          <p:cNvSpPr/>
          <p:nvPr/>
        </p:nvSpPr>
        <p:spPr>
          <a:xfrm>
            <a:off x="6592824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binary, two modes. The chatbot's full tool surface is reachable by Claude Desktop, Claude Code, internal agents.</a:t>
            </a:r>
            <a:endParaRPr lang="en-US" sz="950" dirty="0"/>
          </a:p>
        </p:txBody>
      </p:sp>
      <p:sp>
        <p:nvSpPr>
          <p:cNvPr id="39" name="Shape 30"/>
          <p:cNvSpPr/>
          <p:nvPr/>
        </p:nvSpPr>
        <p:spPr>
          <a:xfrm>
            <a:off x="9272016" y="3776472"/>
            <a:ext cx="27889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1"/>
            </a:solidFill>
            <a:prstDash val="solid"/>
          </a:ln>
          <a:effectLst>
            <a:outerShdw blurRad="127000" dist="254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0" name="Shape 31"/>
          <p:cNvSpPr/>
          <p:nvPr/>
        </p:nvSpPr>
        <p:spPr>
          <a:xfrm>
            <a:off x="9500616" y="4005072"/>
            <a:ext cx="548640" cy="548640"/>
          </a:xfrm>
          <a:prstGeom prst="ellipse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10344" y="4114800"/>
            <a:ext cx="329184" cy="3291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500616" y="4617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</a:t>
            </a:r>
            <a:endParaRPr lang="en-US" sz="1250" dirty="0"/>
          </a:p>
        </p:txBody>
      </p:sp>
      <p:sp>
        <p:nvSpPr>
          <p:cNvPr id="43" name="Text 33"/>
          <p:cNvSpPr/>
          <p:nvPr/>
        </p:nvSpPr>
        <p:spPr>
          <a:xfrm>
            <a:off x="9500616" y="5056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+ 1,536-dim OpenAI embeddings. search_entities exposes 'trigram' or 'semantic' mode — same tool, two engines.</a:t>
            </a:r>
            <a:endParaRPr lang="en-US" sz="950" dirty="0"/>
          </a:p>
        </p:txBody>
      </p:sp>
      <p:sp>
        <p:nvSpPr>
          <p:cNvPr id="44" name="Shape 34"/>
          <p:cNvSpPr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solidFill>
            <a:srgbClr val="0A2A2F"/>
          </a:solidFill>
          <a:ln w="12700">
            <a:solidFill>
              <a:srgbClr val="0A2A2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35"/>
          <p:cNvSpPr/>
          <p:nvPr/>
        </p:nvSpPr>
        <p:spPr>
          <a:xfrm>
            <a:off x="73152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shipped: 13/13 cross-store verification · actions audit UI · telemetry UI · lineage UI · ingest pipeline at 40k rows/sec · Anthropic prompt caching</a:t>
            </a:r>
            <a:endParaRPr lang="en-US" sz="1050" dirty="0"/>
          </a:p>
        </p:txBody>
      </p:sp>
      <p:sp>
        <p:nvSpPr>
          <p:cNvPr id="46" name="Shape 36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Prescriber Knowledge Platform </a:t>
            </a:r>
            <a:endParaRPr lang="en-US" sz="900" dirty="0"/>
          </a:p>
        </p:txBody>
      </p:sp>
      <p:sp>
        <p:nvSpPr>
          <p:cNvPr id="48" name="Text 3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73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A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22960" y="5029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6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WE'RE GOING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22960" y="8686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are the primary consumer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building a chatbot with a database behind it. We are building a data layer designed for AI agents — with one chatbot as the first reference consumer.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22960" y="2697480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971800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3080" y="28346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Sourced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783080" y="32004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ties back to public CMS records.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3895344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822960" y="3895344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169664"/>
            <a:ext cx="502920" cy="5029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403250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1783080" y="4398264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is logged for compliance and review.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22960" y="5093208"/>
            <a:ext cx="3657600" cy="1078992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22960" y="5093208"/>
            <a:ext cx="73152" cy="107899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5367528"/>
            <a:ext cx="502920" cy="5029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783080" y="523036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1783080" y="55961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work through approved tools only — no surprises, no shortcuts.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937760" y="269748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agents do ? 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4937760" y="3154680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5102352" y="3273552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5102352" y="3273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5715000" y="315468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business questions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8001000" y="3154680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answer plain-English questions about prescribers, drugs, specialties, and spend — and show the work behind every answer.</a:t>
            </a:r>
            <a:endParaRPr lang="en-US" sz="1050" dirty="0">
              <a:solidFill>
                <a:srgbClr val="B8D4D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7" name="Shape 22"/>
          <p:cNvSpPr/>
          <p:nvPr/>
        </p:nvSpPr>
        <p:spPr>
          <a:xfrm>
            <a:off x="4937760" y="3913632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3"/>
          <p:cNvSpPr/>
          <p:nvPr/>
        </p:nvSpPr>
        <p:spPr>
          <a:xfrm>
            <a:off x="5102352" y="4032504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4"/>
          <p:cNvSpPr/>
          <p:nvPr/>
        </p:nvSpPr>
        <p:spPr>
          <a:xfrm>
            <a:off x="5102352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5"/>
          <p:cNvSpPr/>
          <p:nvPr/>
        </p:nvSpPr>
        <p:spPr>
          <a:xfrm>
            <a:off x="5715000" y="3913632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vague descriptions</a:t>
            </a:r>
            <a:endParaRPr lang="en-US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1" name="Text 26"/>
          <p:cNvSpPr/>
          <p:nvPr/>
        </p:nvSpPr>
        <p:spPr>
          <a:xfrm>
            <a:off x="8001000" y="3913632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turn casual phrasing like “the cardiologist in SF who prescribes statins” into the exact provider — no manual lookup, no guesswork.</a:t>
            </a:r>
            <a:endParaRPr lang="en-US" sz="1050" dirty="0">
              <a:solidFill>
                <a:srgbClr val="B8D4D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32" name="Shape 27"/>
          <p:cNvSpPr/>
          <p:nvPr/>
        </p:nvSpPr>
        <p:spPr>
          <a:xfrm>
            <a:off x="4937760" y="4672584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5102352" y="4791456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9"/>
          <p:cNvSpPr/>
          <p:nvPr/>
        </p:nvSpPr>
        <p:spPr>
          <a:xfrm>
            <a:off x="5102352" y="4791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 30"/>
          <p:cNvSpPr/>
          <p:nvPr/>
        </p:nvSpPr>
        <p:spPr>
          <a:xfrm>
            <a:off x="5715000" y="4672584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findings</a:t>
            </a:r>
          </a:p>
        </p:txBody>
      </p:sp>
      <p:sp>
        <p:nvSpPr>
          <p:cNvPr id="36" name="Text 31"/>
          <p:cNvSpPr/>
          <p:nvPr/>
        </p:nvSpPr>
        <p:spPr>
          <a:xfrm>
            <a:off x="8001000" y="4672584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can flag providers, build watchlists, and leave notes — every action is logged and safe to repeat.</a:t>
            </a:r>
          </a:p>
        </p:txBody>
      </p:sp>
      <p:sp>
        <p:nvSpPr>
          <p:cNvPr id="37" name="Shape 32"/>
          <p:cNvSpPr/>
          <p:nvPr/>
        </p:nvSpPr>
        <p:spPr>
          <a:xfrm>
            <a:off x="4937760" y="5431536"/>
            <a:ext cx="6675120" cy="685800"/>
          </a:xfrm>
          <a:prstGeom prst="rect">
            <a:avLst/>
          </a:prstGeom>
          <a:solidFill>
            <a:srgbClr val="0F3A40"/>
          </a:solidFill>
          <a:ln w="12700">
            <a:solidFill>
              <a:srgbClr val="0F3A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5102352" y="5550408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4"/>
          <p:cNvSpPr/>
          <p:nvPr/>
        </p:nvSpPr>
        <p:spPr>
          <a:xfrm>
            <a:off x="5102352" y="5550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A2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0" name="Text 35"/>
          <p:cNvSpPr/>
          <p:nvPr/>
        </p:nvSpPr>
        <p:spPr>
          <a:xfrm>
            <a:off x="5715000" y="5431536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any answer</a:t>
            </a:r>
            <a:endParaRPr lang="en-US" sz="130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1" name="Text 36"/>
          <p:cNvSpPr/>
          <p:nvPr/>
        </p:nvSpPr>
        <p:spPr>
          <a:xfrm>
            <a:off x="8001000" y="5431536"/>
            <a:ext cx="3520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en-US" sz="105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provider or fact, agents can show where the data came from, who reviewed it, and what changed — an instant audit trail.</a:t>
            </a:r>
          </a:p>
        </p:txBody>
      </p:sp>
      <p:sp>
        <p:nvSpPr>
          <p:cNvPr id="42" name="Text 37"/>
          <p:cNvSpPr/>
          <p:nvPr/>
        </p:nvSpPr>
        <p:spPr>
          <a:xfrm>
            <a:off x="822960" y="64465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</a:t>
            </a:r>
            <a:r>
              <a:rPr lang="en-US" sz="1000" b="1" u="sng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github.com/gigenthomas/prescriber-ontology</a:t>
            </a:r>
            <a:endParaRPr lang="en-US" sz="1000" dirty="0"/>
          </a:p>
        </p:txBody>
      </p:sp>
      <p:sp>
        <p:nvSpPr>
          <p:cNvPr id="43" name="Text 38"/>
          <p:cNvSpPr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B8D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0A2A2F"/>
                </a:solidFill>
                <a:latin typeface="Calibri"/>
              </a:rPr>
              <a:t>Agents on the semantic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5C7373"/>
                </a:solidFill>
                <a:latin typeface="Calibri"/>
              </a:rPr>
              <a:t>How autonomous agents drive the semantic layer — ask, act, and audit through one bounded tool surface.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640000"/>
            <a:ext cx="2669040" cy="73152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64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F0A202"/>
                </a:solidFill>
                <a:latin typeface="Calibri"/>
              </a:rPr>
              <a:t>CLAUDE DESKTOP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64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Operator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768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377680" y="1640000"/>
            <a:ext cx="2669040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9768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2C39A"/>
                </a:solidFill>
                <a:latin typeface="Calibri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768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Developer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672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06720" y="1640000"/>
            <a:ext cx="266904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2672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00A896"/>
                </a:solidFill>
                <a:latin typeface="Calibri"/>
              </a:rPr>
              <a:t>INTERNAL AGENTS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72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Scheduled &amp; headless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35760" y="1640000"/>
            <a:ext cx="266904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35760" y="1640000"/>
            <a:ext cx="2669040" cy="73152"/>
          </a:xfrm>
          <a:prstGeom prst="rect">
            <a:avLst/>
          </a:prstGeom>
          <a:solidFill>
            <a:srgbClr val="F0A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55760" y="1790000"/>
            <a:ext cx="222904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>
                <a:solidFill>
                  <a:srgbClr val="F0A202"/>
                </a:solidFill>
                <a:latin typeface="Calibri"/>
              </a:rPr>
              <a:t>CHATBOT (HTMX UI)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5760" y="2060000"/>
            <a:ext cx="222904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Reference consumer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620000"/>
            <a:ext cx="11156160" cy="66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48640" y="2620000"/>
            <a:ext cx="11156160" cy="73152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8640" y="2760000"/>
            <a:ext cx="105961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8090"/>
                </a:solidFill>
                <a:latin typeface="Calibri"/>
              </a:rPr>
              <a:t>9 NAMED TOOLS — same surface for chatbot and external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640" y="3000000"/>
            <a:ext cx="105961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query_metric   ·   search_entities   ·   entity_lineage   ·   graph_query   ·   describe_schema   ·   flag   ·   unflag   ·   watchlist   ·   note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88316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>
            <a:off x="181316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6" name="Connector 25"/>
          <p:cNvCxnSpPr/>
          <p:nvPr/>
        </p:nvCxnSpPr>
        <p:spPr>
          <a:xfrm>
            <a:off x="471220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>
            <a:off x="464220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8" name="Connector 27"/>
          <p:cNvCxnSpPr/>
          <p:nvPr/>
        </p:nvCxnSpPr>
        <p:spPr>
          <a:xfrm>
            <a:off x="754124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>
            <a:off x="747124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10370280" y="2420000"/>
            <a:ext cx="0" cy="140000"/>
          </a:xfrm>
          <a:prstGeom prst="line">
            <a:avLst/>
          </a:prstGeom>
          <a:ln w="15875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>
            <a:off x="10300280" y="2510000"/>
            <a:ext cx="140000" cy="110000"/>
          </a:xfrm>
          <a:prstGeom prst="triangl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48640" y="3480000"/>
            <a:ext cx="11156160" cy="114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3480000"/>
            <a:ext cx="11156160" cy="73152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8640" y="3660000"/>
            <a:ext cx="46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YAML DEFINITIONS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0" y="395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13 metrics  ×  7 dimensions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8640" y="4280000"/>
            <a:ext cx="46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One file. Versioned. Reviewed like code.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8640" y="3660000"/>
            <a:ext cx="24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COMPILES 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8640" y="3950000"/>
            <a:ext cx="24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SQL  +  Cypher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48640" y="4280000"/>
            <a:ext cx="24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No raw queries from the model.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48640" y="3660000"/>
            <a:ext cx="3700000" cy="3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2C39A"/>
                </a:solidFill>
                <a:latin typeface="Calibri"/>
              </a:rPr>
              <a:t>RETURNS TO 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48640" y="3950000"/>
            <a:ext cx="3700000" cy="4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answer  +  query  +  sources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48640" y="4280000"/>
            <a:ext cx="370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B8D4D4"/>
                </a:solidFill>
                <a:latin typeface="Calibri"/>
              </a:rPr>
              <a:t>Audited, sourced, replayable.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26720" y="3280000"/>
            <a:ext cx="0" cy="140000"/>
          </a:xfrm>
          <a:prstGeom prst="line">
            <a:avLst/>
          </a:prstGeom>
          <a:ln w="15875">
            <a:solidFill>
              <a:srgbClr val="02C3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>
            <a:off x="6056720" y="3370000"/>
            <a:ext cx="140000" cy="110000"/>
          </a:xfrm>
          <a:prstGeom prst="triangl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48640" y="4820000"/>
            <a:ext cx="543808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548640" y="4820000"/>
            <a:ext cx="543808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28640" y="497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A896"/>
                </a:solidFill>
                <a:latin typeface="Calibri"/>
              </a:rPr>
              <a:t>POSTGRES  ·  typed canonical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640" y="525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114k entities  ·  2.68M relations  ·  provenance + pgvector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6720" y="4820000"/>
            <a:ext cx="5438080" cy="78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6266720" y="4820000"/>
            <a:ext cx="5438080" cy="73152"/>
          </a:xfrm>
          <a:prstGeom prst="rect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546720" y="497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>
                <a:solidFill>
                  <a:srgbClr val="00A896"/>
                </a:solidFill>
                <a:latin typeface="Calibri"/>
              </a:rPr>
              <a:t>NEO4J  ·  graph projection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6720" y="5250000"/>
            <a:ext cx="487808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>
                <a:solidFill>
                  <a:srgbClr val="B8D4D4"/>
                </a:solidFill>
                <a:latin typeface="Calibri"/>
              </a:rPr>
              <a:t>multi-hop  ·  similarity queries  ·  ~1s outbox-synced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3267680" y="4620000"/>
            <a:ext cx="0" cy="140000"/>
          </a:xfrm>
          <a:prstGeom prst="line">
            <a:avLst/>
          </a:prstGeom>
          <a:ln w="15875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/>
          <p:cNvSpPr/>
          <p:nvPr/>
        </p:nvSpPr>
        <p:spPr>
          <a:xfrm>
            <a:off x="3197680" y="4710000"/>
            <a:ext cx="140000" cy="110000"/>
          </a:xfrm>
          <a:prstGeom prst="triangl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5" name="Connector 54"/>
          <p:cNvCxnSpPr/>
          <p:nvPr/>
        </p:nvCxnSpPr>
        <p:spPr>
          <a:xfrm>
            <a:off x="8985760" y="4620000"/>
            <a:ext cx="0" cy="140000"/>
          </a:xfrm>
          <a:prstGeom prst="line">
            <a:avLst/>
          </a:prstGeom>
          <a:ln w="15875">
            <a:solidFill>
              <a:srgbClr val="00A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>
            <a:off x="8915760" y="4710000"/>
            <a:ext cx="140000" cy="110000"/>
          </a:xfrm>
          <a:prstGeom prst="triangle">
            <a:avLst/>
          </a:prstGeom>
          <a:solidFill>
            <a:srgbClr val="00A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70000" y="5806440"/>
            <a:ext cx="2400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>
                <a:solidFill>
                  <a:srgbClr val="028090"/>
                </a:solidFill>
                <a:latin typeface="Calibri"/>
              </a:rPr>
              <a:t>Why this shape: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1A2E2E"/>
                </a:solidFill>
                <a:latin typeface="Calibri"/>
              </a:rPr>
              <a:t>Agents never touch SQL or Cypher. They compose tools — the semantic layer compiles, executes, and returns answers with the query and sources attached.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5C7373"/>
                </a:solidFill>
                <a:latin typeface="Calibri"/>
              </a:rPr>
              <a:t>Prescriber Knowledge Platform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5C737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430000" cy="2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1" i="0">
                <a:solidFill>
                  <a:srgbClr val="028090"/>
                </a:solidFill>
                <a:latin typeface="Calibri"/>
              </a:rPr>
              <a:t>REFERENCE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4168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A2A2F"/>
                </a:solidFill>
                <a:latin typeface="Calibri"/>
              </a:rPr>
              <a:t>Maps to Palantir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8176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C7373"/>
                </a:solidFill>
                <a:latin typeface="Calibri"/>
              </a:rPr>
              <a:t>Same architectural pattern as Palantir Foundry + AIP — translated to open data and a self-hosted footprint.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000000"/>
            <a:ext cx="11104560" cy="42000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8640" y="2000000"/>
            <a:ext cx="218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8640" y="2000000"/>
            <a:ext cx="413000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PALANTIR  ·  FOUNDRY + AIP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18640" y="2000000"/>
            <a:ext cx="4134560" cy="42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00" b="1" i="0">
                <a:solidFill>
                  <a:srgbClr val="02C39A"/>
                </a:solidFill>
                <a:latin typeface="Calibri"/>
              </a:rPr>
              <a:t>THIS 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8640" y="24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Semantic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68640" y="25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Ontology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8640" y="27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objects · links · properties + kinetic actions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98640" y="24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8640" y="2540000"/>
            <a:ext cx="39345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dirty="0">
                <a:solidFill>
                  <a:srgbClr val="FFFFFF"/>
                </a:solidFill>
                <a:latin typeface="Calibri"/>
              </a:rPr>
              <a:t>Semantic layer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8640" y="2790000"/>
            <a:ext cx="393456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00" dirty="0">
                <a:solidFill>
                  <a:srgbClr val="B8D4D4"/>
                </a:solidFill>
                <a:latin typeface="Calibri"/>
              </a:rPr>
              <a:t>graph projections  and relationships</a:t>
            </a:r>
            <a:endParaRPr sz="1000" b="0" i="0" dirty="0">
              <a:solidFill>
                <a:srgbClr val="B8D4D4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48640" y="30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08640" y="30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Data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68640" y="30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Foundry data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68640" y="33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object store + graph backing, governed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98640" y="30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18640" y="30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Postgres + Neo4j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8640" y="33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typed canonical + graph projection, ~1s synced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8640" y="35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Writes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68640" y="36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8640" y="38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typed, transactional, audited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98640" y="35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518640" y="36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Action layer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8640" y="38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flag · watchlist · note · append-only audit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8640" y="41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AI / agents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68640" y="41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AIP Logic + AIP Agents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68640" y="44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LLM orchestration, agent lifecycle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98640" y="41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18640" y="41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Claude + MCP tools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18640" y="44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9 named tools, no raw queries from the model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680000"/>
            <a:ext cx="11104560" cy="490000"/>
          </a:xfrm>
          <a:prstGeom prst="rect">
            <a:avLst/>
          </a:prstGeom>
          <a:solidFill>
            <a:srgbClr val="0F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8640" y="468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Lineage + audit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68640" y="474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Workflow Lineage, audit log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68640" y="499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every change traceable, replayable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98640" y="468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518640" y="474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entity_lineage + telemetry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18640" y="499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provenance on every fact, every tool call logged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230000"/>
            <a:ext cx="11104560" cy="490000"/>
          </a:xfrm>
          <a:prstGeom prst="rect">
            <a:avLst/>
          </a:prstGeom>
          <a:solidFill>
            <a:srgbClr val="0A2A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08640" y="5230000"/>
            <a:ext cx="2140000" cy="490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F0A202"/>
                </a:solidFill>
                <a:latin typeface="Calibri"/>
              </a:rPr>
              <a:t>Consumer surfaces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68640" y="5290000"/>
            <a:ext cx="393000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Workshop, AIP Chatbot Studio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168640" y="5540000"/>
            <a:ext cx="393000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low-code apps + assistants on the ontology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298640" y="5230000"/>
            <a:ext cx="40000" cy="490000"/>
          </a:xfrm>
          <a:prstGeom prst="rect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18640" y="5290000"/>
            <a:ext cx="3934560" cy="2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HTMX chatbot + MCP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18640" y="5540000"/>
            <a:ext cx="3934560" cy="1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B8D4D4"/>
                </a:solidFill>
                <a:latin typeface="Calibri"/>
              </a:rPr>
              <a:t>any agent (Claude Desktop, Code, internal) can connect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EAF4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0000" y="5806440"/>
            <a:ext cx="24000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1" i="0">
                <a:solidFill>
                  <a:srgbClr val="028090"/>
                </a:solidFill>
                <a:latin typeface="Calibri"/>
              </a:rPr>
              <a:t>If you know Palantir: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80360" y="5806440"/>
            <a:ext cx="85953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 i="0">
                <a:solidFill>
                  <a:srgbClr val="1A2E2E"/>
                </a:solidFill>
                <a:latin typeface="Calibri"/>
              </a:rPr>
              <a:t>you already know this shape. Same separation of ontology, actions, and agents — running on public data, self-hosted, in a single docker-compose.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6821424"/>
            <a:ext cx="12161520" cy="36576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5C7373"/>
                </a:solidFill>
                <a:latin typeface="Calibri"/>
              </a:rPr>
              <a:t>Prescriber Knowledge Platform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46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5C737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1173</Words>
  <Application>Microsoft Office PowerPoint</Application>
  <PresentationFormat>Widescreen</PresentationFormat>
  <Paragraphs>175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Prescriber Knowledge Platform — Executive Brief (5-page)</dc:title>
  <dc:subject>PptxGenJS Presentation</dc:subject>
  <dc:creator>Prescriber Knowledge Platform</dc:creator>
  <cp:lastModifiedBy>Gigen Thomas</cp:lastModifiedBy>
  <cp:revision>10</cp:revision>
  <dcterms:created xsi:type="dcterms:W3CDTF">2026-05-17T06:28:55Z</dcterms:created>
  <dcterms:modified xsi:type="dcterms:W3CDTF">2026-05-17T17:55:30Z</dcterms:modified>
</cp:coreProperties>
</file>